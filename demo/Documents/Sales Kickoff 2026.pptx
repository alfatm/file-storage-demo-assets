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pipeline</c:v>
                </c:pt>
              </c:strCache>
            </c:strRef>
          </c:tx>
          <c:dPt>
            <c:idx val="0"/>
            <c:spPr>
              <a:solidFill>
                <a:srgbClr val="0F766E"/>
              </a:solidFill>
            </c:spPr>
          </c:dPt>
          <c:dPt>
            <c:idx val="1"/>
            <c:spPr>
              <a:solidFill>
                <a:srgbClr val="10B981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cat>
            <c:strRef>
              <c:f>Sheet1!$A$2:$A$4</c:f>
              <c:strCache>
                <c:ptCount val="3"/>
                <c:pt idx="0">
                  <c:v>SMB</c:v>
                </c:pt>
                <c:pt idx="1">
                  <c:v>Mid-market</c:v>
                </c:pt>
                <c:pt idx="2">
                  <c:v>Enterprise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41</c:v>
                </c:pt>
                <c:pt idx="2">
                  <c:v>21</c:v>
                </c:pt>
              </c:numCache>
            </c:numRef>
          </c:val>
        </c:ser>
        <c:dLbls>
          <c:numFmt formatCode="0&quot;%&quot;" sourceLinked="0"/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F766E"/>
            </a:solidFill>
            <a:ln w="38100">
              <a:solidFill>
                <a:srgbClr val="0F766E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214</c:v>
                </c:pt>
                <c:pt idx="1">
                  <c:v>223</c:v>
                </c:pt>
                <c:pt idx="2">
                  <c:v>231</c:v>
                </c:pt>
                <c:pt idx="3">
                  <c:v>238</c:v>
                </c:pt>
                <c:pt idx="4">
                  <c:v>249</c:v>
                </c:pt>
                <c:pt idx="5">
                  <c:v>258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10B981"/>
            </a:solidFill>
            <a:ln w="38100">
              <a:solidFill>
                <a:srgbClr val="10B981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152</c:v>
                </c:pt>
                <c:pt idx="1">
                  <c:v>158</c:v>
                </c:pt>
                <c:pt idx="2">
                  <c:v>161</c:v>
                </c:pt>
                <c:pt idx="3">
                  <c:v>167</c:v>
                </c:pt>
                <c:pt idx="4">
                  <c:v>172</c:v>
                </c:pt>
                <c:pt idx="5">
                  <c:v>180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</a:rPr>
              <a:t>Sales Kickoff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E5E7EB"/>
                </a:solidFill>
              </a:rPr>
              <a:t>Second half · Limassol · 14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H1 in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Sales Kickoff 2026 ·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56032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</a:rPr>
              <a:t>New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1">
                <a:solidFill>
                  <a:srgbClr val="111827"/>
                </a:solidFill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059669"/>
                </a:solidFill>
              </a:rPr>
              <a:t>+18 vs H2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645920"/>
            <a:ext cx="256032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</a:rPr>
              <a:t>ARR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1">
                <a:solidFill>
                  <a:srgbClr val="111827"/>
                </a:solidFill>
              </a:rPr>
              <a:t>€3.1M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059669"/>
                </a:solidFill>
              </a:rPr>
              <a:t>+42%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256032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</a:rPr>
              <a:t>Net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1">
                <a:solidFill>
                  <a:srgbClr val="111827"/>
                </a:solidFill>
              </a:rPr>
              <a:t>118%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059669"/>
                </a:solidFill>
              </a:rPr>
              <a:t>+6 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39" y="1645920"/>
            <a:ext cx="256032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39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</a:rPr>
              <a:t>Win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39" y="22860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1">
                <a:solidFill>
                  <a:srgbClr val="111827"/>
                </a:solidFill>
              </a:rPr>
              <a:t>29%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059669"/>
                </a:solidFill>
              </a:rPr>
              <a:t>+4 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374151"/>
                </a:solidFill>
              </a:rPr>
              <a:t>Mid-market deals closed fastest where a migration from an on-premise NAS was part of the pitch.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Pipeline by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Sales Kickoff 2026 ·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371600"/>
          <a:ext cx="10515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Monthly recurring revenue (k€)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Sales Kickoff 2026 ·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371600"/>
          <a:ext cx="10515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From the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Sales Kickoff 2026 ·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875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0">
                <a:solidFill>
                  <a:srgbClr val="111827"/>
                </a:solidFill>
              </a:rPr>
              <a:t>“We moved four terabytes off our old NAS in a weekend and nobody noticed. That is exactly what we wanted.”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6B7280"/>
                </a:solidFill>
              </a:rPr>
              <a:t>— Head of IT, Helios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Plays for H2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Sales Kickoff 2026 ·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374151"/>
                </a:solidFill>
              </a:rPr>
              <a:t>•  NAS replacement: lead with the migration service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374151"/>
                </a:solidFill>
              </a:rPr>
              <a:t>•  Agencies: share links with PIN and expiry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374151"/>
                </a:solidFill>
              </a:rPr>
              <a:t>•  Regulated teams: audit log and data retention policy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374151"/>
                </a:solidFill>
              </a:rPr>
              <a:t>•  Partners: Northwind Labs for search projects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</a:rPr>
              <a:t>Limassol office opens in 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Sales Kickoff 2026 ·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</a:rPr>
              <a:t>7</a:t>
            </a:r>
          </a:p>
        </p:txBody>
      </p:sp>
      <p:pic>
        <p:nvPicPr>
          <p:cNvPr id="6" name="Picture 5" descr="10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3152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</a:rPr>
              <a:t>Room for the whole EMEA sales team.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151"/>
                </a:solidFill>
              </a:rPr>
              <a:t>Customer briefing centre on the top floor.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</a:rPr>
              <a:t>Let's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E5E7EB"/>
                </a:solidFill>
              </a:rPr>
              <a:t>sales@files.example.com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Kickoff 2026</dc:title>
  <dc:subject/>
  <dc:creator>Cloud Demo Workspace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